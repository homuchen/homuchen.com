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3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ca Two Bold" charset="1" panose="00000800000000000000"/>
      <p:regular r:id="rId16"/>
    </p:embeddedFont>
    <p:embeddedFont>
      <p:font typeface="Decalotype" charset="1" panose="00000500000000000000"/>
      <p:regular r:id="rId17"/>
    </p:embeddedFont>
    <p:embeddedFont>
      <p:font typeface="Roca Two Ultra-Bold" charset="1" panose="00000A00000000000000"/>
      <p:regular r:id="rId18"/>
    </p:embeddedFont>
    <p:embeddedFont>
      <p:font typeface="Decalotype Bold" charset="1" panose="00000800000000000000"/>
      <p:regular r:id="rId19"/>
    </p:embeddedFont>
    <p:embeddedFont>
      <p:font typeface="Decalotype Ultra-Bold" charset="1" panose="00000900000000000000"/>
      <p:regular r:id="rId20"/>
    </p:embeddedFont>
    <p:embeddedFont>
      <p:font typeface="Roca Two Light" charset="1" panose="00000400000000000000"/>
      <p:regular r:id="rId21"/>
    </p:embeddedFont>
    <p:embeddedFont>
      <p:font typeface="Roca Two Light Italics" charset="1" panose="000004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eg"/><Relationship Id="rId3" Type="http://schemas.openxmlformats.org/officeDocument/2006/relationships/image" Target="../media/image22.png"/><Relationship Id="rId4" Type="http://schemas.openxmlformats.org/officeDocument/2006/relationships/image" Target="../media/image23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24050"/>
            <a:ext cx="10439251" cy="425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48"/>
              </a:lnSpc>
            </a:pPr>
            <a:r>
              <a:rPr lang="en-US" sz="20864" spc="-1669" b="true">
                <a:solidFill>
                  <a:srgbClr val="4C7A6D"/>
                </a:solidFill>
                <a:latin typeface="Roca Two Bold"/>
                <a:ea typeface="Roca Two Bold"/>
                <a:cs typeface="Roca Two Bold"/>
                <a:sym typeface="Roca Two Bold"/>
              </a:rPr>
              <a:t>claudia </a:t>
            </a:r>
          </a:p>
          <a:p>
            <a:pPr algn="l">
              <a:lnSpc>
                <a:spcPts val="15648"/>
              </a:lnSpc>
            </a:pPr>
            <a:r>
              <a:rPr lang="en-US" sz="20864" spc="-1669" b="true">
                <a:solidFill>
                  <a:srgbClr val="4C7A6D"/>
                </a:solidFill>
                <a:latin typeface="Roca Two Bold"/>
                <a:ea typeface="Roca Two Bold"/>
                <a:cs typeface="Roca Two Bold"/>
                <a:sym typeface="Roca Two Bold"/>
              </a:rPr>
              <a:t>alves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064882" y="3855727"/>
            <a:ext cx="1320835" cy="1287773"/>
          </a:xfrm>
          <a:custGeom>
            <a:avLst/>
            <a:gdLst/>
            <a:ahLst/>
            <a:cxnLst/>
            <a:rect r="r" b="b" t="t" l="l"/>
            <a:pathLst>
              <a:path h="1287773" w="1320835">
                <a:moveTo>
                  <a:pt x="0" y="0"/>
                </a:moveTo>
                <a:lnTo>
                  <a:pt x="1320835" y="0"/>
                </a:lnTo>
                <a:lnTo>
                  <a:pt x="1320835" y="1287773"/>
                </a:lnTo>
                <a:lnTo>
                  <a:pt x="0" y="1287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986513"/>
            <a:ext cx="1185040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4C7A6D"/>
                </a:solidFill>
                <a:latin typeface="Decalotype"/>
                <a:ea typeface="Decalotype"/>
                <a:cs typeface="Decalotype"/>
                <a:sym typeface="Decalotype"/>
              </a:rPr>
              <a:t>UI / UX Designer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7743119" cy="8229600"/>
            <a:chOff x="0" y="0"/>
            <a:chExt cx="9371966" cy="996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1966" cy="9960784"/>
            </a:xfrm>
            <a:custGeom>
              <a:avLst/>
              <a:gdLst/>
              <a:ahLst/>
              <a:cxnLst/>
              <a:rect r="r" b="b" t="t" l="l"/>
              <a:pathLst>
                <a:path h="9960784" w="9371966">
                  <a:moveTo>
                    <a:pt x="9371966" y="978149"/>
                  </a:moveTo>
                  <a:lnTo>
                    <a:pt x="9371966" y="4143686"/>
                  </a:lnTo>
                  <a:cubicBezTo>
                    <a:pt x="9371966" y="4426572"/>
                    <a:pt x="9192515" y="4695514"/>
                    <a:pt x="8882817" y="4882777"/>
                  </a:cubicBezTo>
                  <a:cubicBezTo>
                    <a:pt x="8573120" y="5068047"/>
                    <a:pt x="8393670" y="5336988"/>
                    <a:pt x="8393670" y="5621867"/>
                  </a:cubicBezTo>
                  <a:lnTo>
                    <a:pt x="8393670" y="8982635"/>
                  </a:lnTo>
                  <a:cubicBezTo>
                    <a:pt x="8393670" y="9522509"/>
                    <a:pt x="7756909" y="9960784"/>
                    <a:pt x="6972534" y="9960784"/>
                  </a:cubicBezTo>
                  <a:lnTo>
                    <a:pt x="1421135" y="9960784"/>
                  </a:lnTo>
                  <a:cubicBezTo>
                    <a:pt x="636761" y="9960784"/>
                    <a:pt x="0" y="9522509"/>
                    <a:pt x="0" y="8982635"/>
                  </a:cubicBezTo>
                  <a:lnTo>
                    <a:pt x="0" y="978149"/>
                  </a:lnTo>
                  <a:cubicBezTo>
                    <a:pt x="0" y="438275"/>
                    <a:pt x="636761" y="0"/>
                    <a:pt x="1421135" y="0"/>
                  </a:cubicBezTo>
                  <a:lnTo>
                    <a:pt x="7953725" y="0"/>
                  </a:lnTo>
                  <a:cubicBezTo>
                    <a:pt x="8738099" y="0"/>
                    <a:pt x="9371966" y="438275"/>
                    <a:pt x="9371966" y="978149"/>
                  </a:cubicBezTo>
                  <a:close/>
                </a:path>
              </a:pathLst>
            </a:custGeom>
            <a:blipFill>
              <a:blip r:embed="rId2"/>
              <a:stretch>
                <a:fillRect l="0" t="-20610" r="0" b="-2061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9981734" y="3935596"/>
          <a:ext cx="4940523" cy="2390775"/>
        </p:xfrm>
        <a:graphic>
          <a:graphicData uri="http://schemas.openxmlformats.org/drawingml/2006/table">
            <a:tbl>
              <a:tblPr/>
              <a:tblGrid>
                <a:gridCol w="4940523"/>
              </a:tblGrid>
              <a:tr h="2390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20"/>
                        </a:lnSpc>
                        <a:defRPr/>
                      </a:pPr>
                      <a:r>
                        <a:rPr lang="en-US" b="true" sz="9800" spc="-784">
                          <a:solidFill>
                            <a:srgbClr val="4C7A6D"/>
                          </a:solidFill>
                          <a:latin typeface="Roca Two Ultra-Bold"/>
                          <a:ea typeface="Roca Two Ultra-Bold"/>
                          <a:cs typeface="Roca Two Ultra-Bold"/>
                          <a:sym typeface="Roca Two Ultra-Bold"/>
                        </a:rPr>
                        <a:t>about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4610456" y="3636691"/>
            <a:ext cx="623603" cy="623603"/>
          </a:xfrm>
          <a:custGeom>
            <a:avLst/>
            <a:gdLst/>
            <a:ahLst/>
            <a:cxnLst/>
            <a:rect r="r" b="b" t="t" l="l"/>
            <a:pathLst>
              <a:path h="623603" w="623603">
                <a:moveTo>
                  <a:pt x="0" y="0"/>
                </a:moveTo>
                <a:lnTo>
                  <a:pt x="623603" y="0"/>
                </a:lnTo>
                <a:lnTo>
                  <a:pt x="623603" y="623603"/>
                </a:lnTo>
                <a:lnTo>
                  <a:pt x="0" y="62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981734" y="6599867"/>
            <a:ext cx="7277566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5"/>
              </a:lnSpc>
            </a:pPr>
            <a:r>
              <a:rPr lang="en-US" sz="2100">
                <a:solidFill>
                  <a:srgbClr val="236349"/>
                </a:solidFill>
                <a:latin typeface="Decalotype"/>
                <a:ea typeface="Decalotype"/>
                <a:cs typeface="Decalotype"/>
                <a:sym typeface="Decalotype"/>
              </a:rPr>
              <a:t>I'm passionate about visual storytelling and using design to create impactful and engaging experiences. During my studies, I honed my skills in illustration, graphic design, and animation, developing a strong foundation in design principles and softwares.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2044342"/>
          <a:ext cx="9932609" cy="2390775"/>
        </p:xfrm>
        <a:graphic>
          <a:graphicData uri="http://schemas.openxmlformats.org/drawingml/2006/table">
            <a:tbl>
              <a:tblPr/>
              <a:tblGrid>
                <a:gridCol w="9932609"/>
              </a:tblGrid>
              <a:tr h="2390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20"/>
                        </a:lnSpc>
                        <a:defRPr/>
                      </a:pPr>
                      <a:r>
                        <a:rPr lang="en-US" b="true" sz="9800" spc="-784">
                          <a:solidFill>
                            <a:srgbClr val="4C7A6D"/>
                          </a:solidFill>
                          <a:latin typeface="Roca Two Ultra-Bold"/>
                          <a:ea typeface="Roca Two Ultra-Bold"/>
                          <a:cs typeface="Roca Two Ultra-Bold"/>
                          <a:sym typeface="Roca Two Ultra-Bold"/>
                        </a:rPr>
                        <a:t>design philosophy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-10800000">
            <a:off x="10580126" y="1702780"/>
            <a:ext cx="762366" cy="683123"/>
          </a:xfrm>
          <a:custGeom>
            <a:avLst/>
            <a:gdLst/>
            <a:ahLst/>
            <a:cxnLst/>
            <a:rect r="r" b="b" t="t" l="l"/>
            <a:pathLst>
              <a:path h="683123" w="762366">
                <a:moveTo>
                  <a:pt x="0" y="0"/>
                </a:moveTo>
                <a:lnTo>
                  <a:pt x="762366" y="0"/>
                </a:lnTo>
                <a:lnTo>
                  <a:pt x="762366" y="683123"/>
                </a:lnTo>
                <a:lnTo>
                  <a:pt x="0" y="683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624101" y="1028700"/>
            <a:ext cx="5635199" cy="6793812"/>
            <a:chOff x="0" y="0"/>
            <a:chExt cx="6350000" cy="7655579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6352540" cy="7656848"/>
            </a:xfrm>
            <a:custGeom>
              <a:avLst/>
              <a:gdLst/>
              <a:ahLst/>
              <a:cxnLst/>
              <a:rect r="r" b="b" t="t" l="l"/>
              <a:pathLst>
                <a:path h="7656848" w="6352540">
                  <a:moveTo>
                    <a:pt x="356870" y="2364924"/>
                  </a:moveTo>
                  <a:lnTo>
                    <a:pt x="1633220" y="2364924"/>
                  </a:lnTo>
                  <a:cubicBezTo>
                    <a:pt x="1828800" y="2364924"/>
                    <a:pt x="1987550" y="2159350"/>
                    <a:pt x="1987550" y="1906083"/>
                  </a:cubicBezTo>
                  <a:lnTo>
                    <a:pt x="1987550" y="458841"/>
                  </a:lnTo>
                  <a:cubicBezTo>
                    <a:pt x="1987550" y="205574"/>
                    <a:pt x="2146300" y="0"/>
                    <a:pt x="2341880" y="0"/>
                  </a:cubicBezTo>
                  <a:lnTo>
                    <a:pt x="5290820" y="0"/>
                  </a:lnTo>
                  <a:cubicBezTo>
                    <a:pt x="5486400" y="0"/>
                    <a:pt x="5645150" y="205574"/>
                    <a:pt x="5645150" y="458841"/>
                  </a:cubicBezTo>
                  <a:lnTo>
                    <a:pt x="5645150" y="656192"/>
                  </a:lnTo>
                  <a:cubicBezTo>
                    <a:pt x="5645150" y="909460"/>
                    <a:pt x="5803900" y="1115034"/>
                    <a:pt x="5999480" y="1115034"/>
                  </a:cubicBezTo>
                  <a:cubicBezTo>
                    <a:pt x="6193790" y="1115034"/>
                    <a:pt x="6352540" y="1318963"/>
                    <a:pt x="6352540" y="1572230"/>
                  </a:cubicBezTo>
                  <a:lnTo>
                    <a:pt x="6352540" y="6116240"/>
                  </a:lnTo>
                  <a:cubicBezTo>
                    <a:pt x="6352540" y="6369507"/>
                    <a:pt x="6193790" y="6575081"/>
                    <a:pt x="5998210" y="6575081"/>
                  </a:cubicBezTo>
                  <a:cubicBezTo>
                    <a:pt x="5802630" y="6575081"/>
                    <a:pt x="5643880" y="6780655"/>
                    <a:pt x="5643880" y="7033923"/>
                  </a:cubicBezTo>
                  <a:lnTo>
                    <a:pt x="5643880" y="7198382"/>
                  </a:lnTo>
                  <a:cubicBezTo>
                    <a:pt x="5643880" y="7451649"/>
                    <a:pt x="5485130" y="7656848"/>
                    <a:pt x="5289550" y="7656848"/>
                  </a:cubicBezTo>
                  <a:lnTo>
                    <a:pt x="2339340" y="7656848"/>
                  </a:lnTo>
                  <a:cubicBezTo>
                    <a:pt x="2143760" y="7656848"/>
                    <a:pt x="1985010" y="7451649"/>
                    <a:pt x="1985010" y="7198382"/>
                  </a:cubicBezTo>
                  <a:lnTo>
                    <a:pt x="1985010" y="7033923"/>
                  </a:lnTo>
                  <a:cubicBezTo>
                    <a:pt x="1985010" y="6780655"/>
                    <a:pt x="1826260" y="6575081"/>
                    <a:pt x="1630680" y="6575081"/>
                  </a:cubicBezTo>
                  <a:lnTo>
                    <a:pt x="354330" y="6575081"/>
                  </a:lnTo>
                  <a:cubicBezTo>
                    <a:pt x="158750" y="6575081"/>
                    <a:pt x="0" y="6369507"/>
                    <a:pt x="0" y="6116240"/>
                  </a:cubicBezTo>
                  <a:lnTo>
                    <a:pt x="0" y="2822121"/>
                  </a:lnTo>
                  <a:cubicBezTo>
                    <a:pt x="2540" y="2568854"/>
                    <a:pt x="161290" y="2364924"/>
                    <a:pt x="356870" y="2364924"/>
                  </a:cubicBezTo>
                  <a:close/>
                </a:path>
              </a:pathLst>
            </a:custGeom>
            <a:blipFill>
              <a:blip r:embed="rId4"/>
              <a:stretch>
                <a:fillRect l="0" t="-12263" r="0" b="-1226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11192" y="4689174"/>
            <a:ext cx="9415253" cy="114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1"/>
              </a:lnSpc>
              <a:spcBef>
                <a:spcPct val="0"/>
              </a:spcBef>
            </a:pPr>
            <a:r>
              <a:rPr lang="en-US" sz="2069">
                <a:solidFill>
                  <a:srgbClr val="236349"/>
                </a:solidFill>
                <a:latin typeface="Decalotype"/>
                <a:ea typeface="Decalotype"/>
                <a:cs typeface="Decalotype"/>
                <a:sym typeface="Decalotype"/>
              </a:rPr>
              <a:t>I believe design has the power to connect with people on an emotional level. I strive to create visually compelling work that fosters understanding, sparks conversation, and leaves a lasting impression.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44047" y="8114342"/>
            <a:ext cx="9415253" cy="114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1"/>
              </a:lnSpc>
              <a:spcBef>
                <a:spcPct val="0"/>
              </a:spcBef>
            </a:pPr>
            <a:r>
              <a:rPr lang="en-US" sz="2069">
                <a:solidFill>
                  <a:srgbClr val="236349"/>
                </a:solidFill>
                <a:latin typeface="Decalotype"/>
                <a:ea typeface="Decalotype"/>
                <a:cs typeface="Decalotype"/>
                <a:sym typeface="Decalotype"/>
              </a:rPr>
              <a:t>My inspiration comes from everyday encounters, nature's beauty, and the human experience. Whether it's a captivating illustration or a user-friendly interface, I aim to inject a touch of creativity and purpose into every project.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7A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6813585"/>
          <a:ext cx="3716973" cy="2390775"/>
        </p:xfrm>
        <a:graphic>
          <a:graphicData uri="http://schemas.openxmlformats.org/drawingml/2006/table">
            <a:tbl>
              <a:tblPr/>
              <a:tblGrid>
                <a:gridCol w="3716973"/>
              </a:tblGrid>
              <a:tr h="2390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20"/>
                        </a:lnSpc>
                        <a:defRPr/>
                      </a:pPr>
                      <a:r>
                        <a:rPr lang="en-US" b="true" sz="9800" spc="-784">
                          <a:solidFill>
                            <a:srgbClr val="EAE5DA"/>
                          </a:solidFill>
                          <a:latin typeface="Roca Two Ultra-Bold"/>
                          <a:ea typeface="Roca Two Ultra-Bold"/>
                          <a:cs typeface="Roca Two Ultra-Bold"/>
                          <a:sym typeface="Roca Two Ultra-Bold"/>
                        </a:rPr>
                        <a:t>skills 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4478652" y="6508160"/>
            <a:ext cx="534041" cy="547744"/>
          </a:xfrm>
          <a:custGeom>
            <a:avLst/>
            <a:gdLst/>
            <a:ahLst/>
            <a:cxnLst/>
            <a:rect r="r" b="b" t="t" l="l"/>
            <a:pathLst>
              <a:path h="547744" w="534041">
                <a:moveTo>
                  <a:pt x="0" y="0"/>
                </a:moveTo>
                <a:lnTo>
                  <a:pt x="534041" y="0"/>
                </a:lnTo>
                <a:lnTo>
                  <a:pt x="534041" y="547744"/>
                </a:lnTo>
                <a:lnTo>
                  <a:pt x="0" y="547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170286" y="2192765"/>
          <a:ext cx="9557387" cy="1329026"/>
        </p:xfrm>
        <a:graphic>
          <a:graphicData uri="http://schemas.openxmlformats.org/drawingml/2006/table">
            <a:tbl>
              <a:tblPr/>
              <a:tblGrid>
                <a:gridCol w="9557387"/>
              </a:tblGrid>
              <a:tr h="13290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EAE5DA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UX Design Mastermind: Crafting intuitive interfaces and captivating visuals to bring your brand to life. 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-1214770" y="-754217"/>
            <a:ext cx="6227464" cy="6227464"/>
          </a:xfrm>
          <a:custGeom>
            <a:avLst/>
            <a:gdLst/>
            <a:ahLst/>
            <a:cxnLst/>
            <a:rect r="r" b="b" t="t" l="l"/>
            <a:pathLst>
              <a:path h="6227464" w="6227464">
                <a:moveTo>
                  <a:pt x="0" y="0"/>
                </a:moveTo>
                <a:lnTo>
                  <a:pt x="6227463" y="0"/>
                </a:lnTo>
                <a:lnTo>
                  <a:pt x="6227463" y="6227463"/>
                </a:lnTo>
                <a:lnTo>
                  <a:pt x="0" y="6227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170286" y="4436356"/>
          <a:ext cx="9557387" cy="1329026"/>
        </p:xfrm>
        <a:graphic>
          <a:graphicData uri="http://schemas.openxmlformats.org/drawingml/2006/table">
            <a:tbl>
              <a:tblPr/>
              <a:tblGrid>
                <a:gridCol w="9557387"/>
              </a:tblGrid>
              <a:tr h="13290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EAE5DA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Creative Problem Solver: Design thinking meets user empathy to deliver impactful solutions.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170286" y="6679946"/>
          <a:ext cx="9557387" cy="1329026"/>
        </p:xfrm>
        <a:graphic>
          <a:graphicData uri="http://schemas.openxmlformats.org/drawingml/2006/table">
            <a:tbl>
              <a:tblPr/>
              <a:tblGrid>
                <a:gridCol w="9557387"/>
              </a:tblGrid>
              <a:tr h="13290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EAE5DA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Team Player with a Pixel-Perfect Eye: Collaborating seamlessly to create beautiful and functional experiences.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604972" y="4167720"/>
          <a:ext cx="4793697" cy="2390775"/>
        </p:xfrm>
        <a:graphic>
          <a:graphicData uri="http://schemas.openxmlformats.org/drawingml/2006/table">
            <a:tbl>
              <a:tblPr/>
              <a:tblGrid>
                <a:gridCol w="4793697"/>
              </a:tblGrid>
              <a:tr h="2390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20"/>
                        </a:lnSpc>
                        <a:defRPr/>
                      </a:pPr>
                      <a:r>
                        <a:rPr lang="en-US" b="true" sz="9800" spc="-784">
                          <a:solidFill>
                            <a:srgbClr val="4C7A6D"/>
                          </a:solidFill>
                          <a:latin typeface="Roca Two Ultra-Bold"/>
                          <a:ea typeface="Roca Two Ultra-Bold"/>
                          <a:cs typeface="Roca Two Ultra-Bold"/>
                          <a:sym typeface="Roca Two Ultra-Bold"/>
                        </a:rPr>
                        <a:t>projects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5670028" y="3728505"/>
            <a:ext cx="1457283" cy="887145"/>
          </a:xfrm>
          <a:custGeom>
            <a:avLst/>
            <a:gdLst/>
            <a:ahLst/>
            <a:cxnLst/>
            <a:rect r="r" b="b" t="t" l="l"/>
            <a:pathLst>
              <a:path h="887145" w="1457283">
                <a:moveTo>
                  <a:pt x="0" y="0"/>
                </a:moveTo>
                <a:lnTo>
                  <a:pt x="1457282" y="0"/>
                </a:lnTo>
                <a:lnTo>
                  <a:pt x="1457282" y="887144"/>
                </a:lnTo>
                <a:lnTo>
                  <a:pt x="0" y="887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907752" y="3787783"/>
          <a:ext cx="8894756" cy="3150649"/>
        </p:xfrm>
        <a:graphic>
          <a:graphicData uri="http://schemas.openxmlformats.org/drawingml/2006/table">
            <a:tbl>
              <a:tblPr/>
              <a:tblGrid>
                <a:gridCol w="1600986"/>
                <a:gridCol w="7293770"/>
              </a:tblGrid>
              <a:tr h="1575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80"/>
                        </a:lnSpc>
                        <a:defRPr/>
                      </a:pPr>
                      <a:r>
                        <a:rPr lang="en-US" sz="2700">
                          <a:solidFill>
                            <a:srgbClr val="4C7A6D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#1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80"/>
                        </a:lnSpc>
                        <a:defRPr/>
                      </a:pPr>
                      <a:r>
                        <a:rPr lang="en-US" sz="2700">
                          <a:solidFill>
                            <a:srgbClr val="4C7A6D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Student Hub Mobile App &gt; See Case Study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5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80"/>
                        </a:lnSpc>
                        <a:defRPr/>
                      </a:pPr>
                      <a:r>
                        <a:rPr lang="en-US" sz="2700">
                          <a:solidFill>
                            <a:srgbClr val="4C7A6D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#2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80"/>
                        </a:lnSpc>
                        <a:defRPr/>
                      </a:pPr>
                      <a:r>
                        <a:rPr lang="en-US" sz="2700">
                          <a:solidFill>
                            <a:srgbClr val="4C7A6D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Plant Care App Redesign &gt; See Case Study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685589" y="1028700"/>
          <a:ext cx="10573711" cy="8230813"/>
        </p:xfrm>
        <a:graphic>
          <a:graphicData uri="http://schemas.openxmlformats.org/drawingml/2006/table">
            <a:tbl>
              <a:tblPr/>
              <a:tblGrid>
                <a:gridCol w="1759853"/>
                <a:gridCol w="8813858"/>
              </a:tblGrid>
              <a:tr h="18656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43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4C7A6D"/>
                          </a:solidFill>
                          <a:latin typeface="Decalotype Bold"/>
                          <a:ea typeface="Decalotype Bold"/>
                          <a:cs typeface="Decalotype Bold"/>
                          <a:sym typeface="Decalotype Bold"/>
                        </a:rPr>
                        <a:t>About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43"/>
                        </a:lnSpc>
                        <a:defRPr/>
                      </a:pPr>
                      <a:r>
                        <a:rPr lang="en-US" sz="1959">
                          <a:solidFill>
                            <a:srgbClr val="4C7A6D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Borcelle is a mobile application designed to be a one-stop hub for students, centralizing resources, communication channels, and academic tools.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67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43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4C7A6D"/>
                          </a:solidFill>
                          <a:latin typeface="Decalotype Bold"/>
                          <a:ea typeface="Decalotype Bold"/>
                          <a:cs typeface="Decalotype Bold"/>
                          <a:sym typeface="Decalotype Bold"/>
                        </a:rPr>
                        <a:t>Goal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43"/>
                        </a:lnSpc>
                        <a:defRPr/>
                      </a:pPr>
                      <a:r>
                        <a:rPr lang="en-US" sz="1959">
                          <a:solidFill>
                            <a:srgbClr val="4C7A6D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Increase student engagement and academic performance within the Borcelle mobile app by 20% within the first 6 months of launch.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43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4C7A6D"/>
                          </a:solidFill>
                          <a:latin typeface="Decalotype Bold"/>
                          <a:ea typeface="Decalotype Bold"/>
                          <a:cs typeface="Decalotype Bold"/>
                          <a:sym typeface="Decalotype Bold"/>
                        </a:rPr>
                        <a:t>Results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23163" indent="-211582" lvl="1">
                        <a:lnSpc>
                          <a:spcPts val="2743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59">
                          <a:solidFill>
                            <a:srgbClr val="4C7A6D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Increased app downloads and active users by 25% exceeding the initial target.</a:t>
                      </a:r>
                      <a:endParaRPr lang="en-US" sz="1100"/>
                    </a:p>
                    <a:p>
                      <a:pPr algn="l" marL="423163" indent="-211582" lvl="1">
                        <a:lnSpc>
                          <a:spcPts val="2743"/>
                        </a:lnSpc>
                        <a:buFont typeface="Arial"/>
                        <a:buChar char="•"/>
                      </a:pPr>
                      <a:r>
                        <a:rPr lang="en-US" sz="1959">
                          <a:solidFill>
                            <a:srgbClr val="4C7A6D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Tracked a 30% rise in student access to academic resources (e.g., class materials, assignment submission) through the app.</a:t>
                      </a:r>
                    </a:p>
                    <a:p>
                      <a:pPr algn="l" marL="423163" indent="-211582" lvl="1">
                        <a:lnSpc>
                          <a:spcPts val="2743"/>
                        </a:lnSpc>
                        <a:buFont typeface="Arial"/>
                        <a:buChar char="•"/>
                      </a:pPr>
                      <a:r>
                        <a:rPr lang="en-US" sz="1959">
                          <a:solidFill>
                            <a:srgbClr val="4C7A6D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In-app messaging platform saw a 40% increase in student-to-student and student-to-faculty communication, fostering collaboration and improved learning outcomes.</a:t>
                      </a:r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149419" y="2315542"/>
            <a:ext cx="4305262" cy="6943970"/>
          </a:xfrm>
          <a:custGeom>
            <a:avLst/>
            <a:gdLst/>
            <a:ahLst/>
            <a:cxnLst/>
            <a:rect r="r" b="b" t="t" l="l"/>
            <a:pathLst>
              <a:path h="6943970" w="4305262">
                <a:moveTo>
                  <a:pt x="0" y="0"/>
                </a:moveTo>
                <a:lnTo>
                  <a:pt x="4305261" y="0"/>
                </a:lnTo>
                <a:lnTo>
                  <a:pt x="4305261" y="6943971"/>
                </a:lnTo>
                <a:lnTo>
                  <a:pt x="0" y="6943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04957" y="8936609"/>
            <a:ext cx="659901" cy="643383"/>
          </a:xfrm>
          <a:custGeom>
            <a:avLst/>
            <a:gdLst/>
            <a:ahLst/>
            <a:cxnLst/>
            <a:rect r="r" b="b" t="t" l="l"/>
            <a:pathLst>
              <a:path h="643383" w="659901">
                <a:moveTo>
                  <a:pt x="0" y="0"/>
                </a:moveTo>
                <a:lnTo>
                  <a:pt x="659901" y="0"/>
                </a:lnTo>
                <a:lnTo>
                  <a:pt x="659901" y="643382"/>
                </a:lnTo>
                <a:lnTo>
                  <a:pt x="0" y="6433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28837"/>
            <a:ext cx="4546699" cy="43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3"/>
              </a:lnSpc>
              <a:spcBef>
                <a:spcPct val="0"/>
              </a:spcBef>
            </a:pPr>
            <a:r>
              <a:rPr lang="en-US" b="true" sz="2799" spc="-69">
                <a:solidFill>
                  <a:srgbClr val="4C7A6D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S</a:t>
            </a:r>
            <a:r>
              <a:rPr lang="en-US" b="true" sz="2799" spc="-69">
                <a:solidFill>
                  <a:srgbClr val="4C7A6D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tudent Hub Mobile App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76292" y="1019175"/>
            <a:ext cx="2186258" cy="42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3"/>
              </a:lnSpc>
              <a:spcBef>
                <a:spcPct val="0"/>
              </a:spcBef>
            </a:pPr>
            <a:r>
              <a:rPr lang="en-US" b="true" sz="2799" spc="-223">
                <a:solidFill>
                  <a:srgbClr val="4C7A6D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project #1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7A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685589" y="1028700"/>
          <a:ext cx="10573711" cy="8230813"/>
        </p:xfrm>
        <a:graphic>
          <a:graphicData uri="http://schemas.openxmlformats.org/drawingml/2006/table">
            <a:tbl>
              <a:tblPr/>
              <a:tblGrid>
                <a:gridCol w="1759853"/>
                <a:gridCol w="8813858"/>
              </a:tblGrid>
              <a:tr h="18656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43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EAE5DA"/>
                          </a:solidFill>
                          <a:latin typeface="Decalotype Bold"/>
                          <a:ea typeface="Decalotype Bold"/>
                          <a:cs typeface="Decalotype Bold"/>
                          <a:sym typeface="Decalotype Bold"/>
                        </a:rPr>
                        <a:t>About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43"/>
                        </a:lnSpc>
                        <a:defRPr/>
                      </a:pPr>
                      <a:r>
                        <a:rPr lang="en-US" sz="1959">
                          <a:solidFill>
                            <a:srgbClr val="EAE5DA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Borcelle is a mobile application designed to empower users to take care of their plants.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67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43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EAE5DA"/>
                          </a:solidFill>
                          <a:latin typeface="Decalotype Bold"/>
                          <a:ea typeface="Decalotype Bold"/>
                          <a:cs typeface="Decalotype Bold"/>
                          <a:sym typeface="Decalotype Bold"/>
                        </a:rPr>
                        <a:t>Goal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43"/>
                        </a:lnSpc>
                        <a:defRPr/>
                      </a:pPr>
                      <a:r>
                        <a:rPr lang="en-US" sz="1959">
                          <a:solidFill>
                            <a:srgbClr val="EAE5DA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Increase user engagement in the Borcelle app by 20% within 3 months of launching the redesigned interface.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43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EAE5DA"/>
                          </a:solidFill>
                          <a:latin typeface="Decalotype Bold"/>
                          <a:ea typeface="Decalotype Bold"/>
                          <a:cs typeface="Decalotype Bold"/>
                          <a:sym typeface="Decalotype Bold"/>
                        </a:rPr>
                        <a:t>Results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23163" indent="-211582" lvl="1">
                        <a:lnSpc>
                          <a:spcPts val="2743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59">
                          <a:solidFill>
                            <a:srgbClr val="EAE5DA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20% increase in daily active users within 3 months of the app launch.</a:t>
                      </a:r>
                      <a:endParaRPr lang="en-US" sz="1100"/>
                    </a:p>
                    <a:p>
                      <a:pPr algn="l" marL="423163" indent="-211582" lvl="1">
                        <a:lnSpc>
                          <a:spcPts val="2743"/>
                        </a:lnSpc>
                        <a:buFont typeface="Arial"/>
                        <a:buChar char="•"/>
                      </a:pPr>
                      <a:r>
                        <a:rPr lang="en-US" sz="1959">
                          <a:solidFill>
                            <a:srgbClr val="EAE5DA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15% reduction in plant-related help desk inquiries after implementing clear and accessible plant care information within the app.</a:t>
                      </a:r>
                    </a:p>
                    <a:p>
                      <a:pPr algn="l" marL="423163" indent="-211582" lvl="1">
                        <a:lnSpc>
                          <a:spcPts val="2743"/>
                        </a:lnSpc>
                        <a:buFont typeface="Arial"/>
                        <a:buChar char="•"/>
                      </a:pPr>
                      <a:r>
                        <a:rPr lang="en-US" sz="1959">
                          <a:solidFill>
                            <a:srgbClr val="EAE5DA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A 10% rise in the completion rate of plant care reminders indicating increased user engagement in responsible plant care practices.</a:t>
                      </a:r>
                    </a:p>
                    <a:p>
                      <a:pPr algn="l">
                        <a:lnSpc>
                          <a:spcPts val="2743"/>
                        </a:lnSpc>
                      </a:pPr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149419" y="2315542"/>
            <a:ext cx="4305262" cy="6943970"/>
          </a:xfrm>
          <a:custGeom>
            <a:avLst/>
            <a:gdLst/>
            <a:ahLst/>
            <a:cxnLst/>
            <a:rect r="r" b="b" t="t" l="l"/>
            <a:pathLst>
              <a:path h="6943970" w="4305262">
                <a:moveTo>
                  <a:pt x="0" y="0"/>
                </a:moveTo>
                <a:lnTo>
                  <a:pt x="4305261" y="0"/>
                </a:lnTo>
                <a:lnTo>
                  <a:pt x="4305261" y="6943971"/>
                </a:lnTo>
                <a:lnTo>
                  <a:pt x="0" y="6943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04957" y="8936609"/>
            <a:ext cx="659901" cy="643383"/>
          </a:xfrm>
          <a:custGeom>
            <a:avLst/>
            <a:gdLst/>
            <a:ahLst/>
            <a:cxnLst/>
            <a:rect r="r" b="b" t="t" l="l"/>
            <a:pathLst>
              <a:path h="643383" w="659901">
                <a:moveTo>
                  <a:pt x="0" y="0"/>
                </a:moveTo>
                <a:lnTo>
                  <a:pt x="659901" y="0"/>
                </a:lnTo>
                <a:lnTo>
                  <a:pt x="659901" y="643382"/>
                </a:lnTo>
                <a:lnTo>
                  <a:pt x="0" y="6433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28837"/>
            <a:ext cx="4546699" cy="43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3"/>
              </a:lnSpc>
              <a:spcBef>
                <a:spcPct val="0"/>
              </a:spcBef>
            </a:pPr>
            <a:r>
              <a:rPr lang="en-US" b="true" sz="2799" spc="-69">
                <a:solidFill>
                  <a:srgbClr val="EAE5DA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Plant Care App Redesign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76292" y="1019175"/>
            <a:ext cx="2186258" cy="42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3"/>
              </a:lnSpc>
              <a:spcBef>
                <a:spcPct val="0"/>
              </a:spcBef>
            </a:pPr>
            <a:r>
              <a:rPr lang="en-US" b="true" sz="2799" spc="-223">
                <a:solidFill>
                  <a:srgbClr val="EAE5DA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project #2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6109156"/>
            <a:ext cx="15851548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5960569"/>
            <a:ext cx="297173" cy="2971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7A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15203" y="5960569"/>
            <a:ext cx="297173" cy="2971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7A6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98071" y="5960569"/>
            <a:ext cx="297173" cy="29717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7A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1"/>
                </a:lnSpc>
              </a:pP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5213635" y="3026869"/>
          <a:ext cx="7860730" cy="2390775"/>
        </p:xfrm>
        <a:graphic>
          <a:graphicData uri="http://schemas.openxmlformats.org/drawingml/2006/table">
            <a:tbl>
              <a:tblPr/>
              <a:tblGrid>
                <a:gridCol w="7860730"/>
              </a:tblGrid>
              <a:tr h="2390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20"/>
                        </a:lnSpc>
                        <a:defRPr/>
                      </a:pPr>
                      <a:r>
                        <a:rPr lang="en-US" b="true" sz="9800" spc="-784">
                          <a:solidFill>
                            <a:srgbClr val="4C7A6D"/>
                          </a:solidFill>
                          <a:latin typeface="Roca Two Ultra-Bold"/>
                          <a:ea typeface="Roca Two Ultra-Bold"/>
                          <a:cs typeface="Roca Two Ultra-Bold"/>
                          <a:sym typeface="Roca Two Ultra-Bold"/>
                        </a:rPr>
                        <a:t>achievements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3" id="13"/>
          <p:cNvSpPr/>
          <p:nvPr/>
        </p:nvSpPr>
        <p:spPr>
          <a:xfrm flipH="false" flipV="false" rot="0">
            <a:off x="12598071" y="2555291"/>
            <a:ext cx="952589" cy="943157"/>
          </a:xfrm>
          <a:custGeom>
            <a:avLst/>
            <a:gdLst/>
            <a:ahLst/>
            <a:cxnLst/>
            <a:rect r="r" b="b" t="t" l="l"/>
            <a:pathLst>
              <a:path h="943157" w="952589">
                <a:moveTo>
                  <a:pt x="0" y="0"/>
                </a:moveTo>
                <a:lnTo>
                  <a:pt x="952589" y="0"/>
                </a:lnTo>
                <a:lnTo>
                  <a:pt x="952589" y="943157"/>
                </a:lnTo>
                <a:lnTo>
                  <a:pt x="0" y="943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05872" y="6649499"/>
            <a:ext cx="2778873" cy="43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83"/>
              </a:lnSpc>
            </a:pPr>
            <a:r>
              <a:rPr lang="en-US" b="true" sz="2799" spc="-69">
                <a:solidFill>
                  <a:srgbClr val="4C7A6D"/>
                </a:solidFill>
                <a:latin typeface="Decalotype Ultra-Bold"/>
                <a:ea typeface="Decalotype Ultra-Bold"/>
                <a:cs typeface="Decalotype Ultra-Bold"/>
                <a:sym typeface="Decalotype Ultra-Bold"/>
              </a:rPr>
              <a:t>May 2040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5872" y="7235519"/>
            <a:ext cx="4393960" cy="69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1"/>
              </a:lnSpc>
              <a:spcBef>
                <a:spcPct val="0"/>
              </a:spcBef>
            </a:pPr>
            <a:r>
              <a:rPr lang="en-US" sz="1959">
                <a:solidFill>
                  <a:srgbClr val="4C7A6D"/>
                </a:solidFill>
                <a:latin typeface="Decalotype"/>
                <a:ea typeface="Decalotype"/>
                <a:cs typeface="Decalotype"/>
                <a:sym typeface="Decalotype"/>
              </a:rPr>
              <a:t>Awarded 1st place in the Sustainable Tech Design Challenge.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15203" y="6649499"/>
            <a:ext cx="2778873" cy="43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83"/>
              </a:lnSpc>
            </a:pPr>
            <a:r>
              <a:rPr lang="en-US" b="true" sz="2799" spc="-69">
                <a:solidFill>
                  <a:srgbClr val="4C7A6D"/>
                </a:solidFill>
                <a:latin typeface="Decalotype Ultra-Bold"/>
                <a:ea typeface="Decalotype Ultra-Bold"/>
                <a:cs typeface="Decalotype Ultra-Bold"/>
                <a:sym typeface="Decalotype Ultra-Bold"/>
              </a:rPr>
              <a:t>Aug 2040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15203" y="7165752"/>
            <a:ext cx="4067680" cy="105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1"/>
              </a:lnSpc>
              <a:spcBef>
                <a:spcPct val="0"/>
              </a:spcBef>
            </a:pPr>
            <a:r>
              <a:rPr lang="en-US" sz="1959">
                <a:solidFill>
                  <a:srgbClr val="4C7A6D"/>
                </a:solidFill>
                <a:latin typeface="Decalotype"/>
                <a:ea typeface="Decalotype"/>
                <a:cs typeface="Decalotype"/>
                <a:sym typeface="Decalotype"/>
              </a:rPr>
              <a:t>Featured Artist in the "Emerging Artists Showcase" at the Studio Showde’s  Art Gallery 2040.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46657" y="6640249"/>
            <a:ext cx="2778873" cy="43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83"/>
              </a:lnSpc>
            </a:pPr>
            <a:r>
              <a:rPr lang="en-US" b="true" sz="2799" spc="-69">
                <a:solidFill>
                  <a:srgbClr val="4C7A6D"/>
                </a:solidFill>
                <a:latin typeface="Decalotype Ultra-Bold"/>
                <a:ea typeface="Decalotype Ultra-Bold"/>
                <a:cs typeface="Decalotype Ultra-Bold"/>
                <a:sym typeface="Decalotype Ultra-Bold"/>
              </a:rPr>
              <a:t>Nov 2040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46657" y="7226268"/>
            <a:ext cx="4512643" cy="105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1"/>
              </a:lnSpc>
              <a:spcBef>
                <a:spcPct val="0"/>
              </a:spcBef>
            </a:pPr>
            <a:r>
              <a:rPr lang="en-US" sz="1959">
                <a:solidFill>
                  <a:srgbClr val="4C7A6D"/>
                </a:solidFill>
                <a:latin typeface="Decalotype"/>
                <a:ea typeface="Decalotype"/>
                <a:cs typeface="Decalotype"/>
                <a:sym typeface="Decalotype"/>
              </a:rPr>
              <a:t>Featured in Hanover and Tyke’s Design Anthology highlighting its innovative approach to user engagement in plant care.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7A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8922275" y="6867525"/>
          <a:ext cx="7860730" cy="2390775"/>
        </p:xfrm>
        <a:graphic>
          <a:graphicData uri="http://schemas.openxmlformats.org/drawingml/2006/table">
            <a:tbl>
              <a:tblPr/>
              <a:tblGrid>
                <a:gridCol w="7860730"/>
              </a:tblGrid>
              <a:tr h="2390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20"/>
                        </a:lnSpc>
                        <a:defRPr/>
                      </a:pPr>
                      <a:r>
                        <a:rPr lang="en-US" b="true" sz="9800" spc="-784">
                          <a:solidFill>
                            <a:srgbClr val="EAE5DA"/>
                          </a:solidFill>
                          <a:latin typeface="Roca Two Ultra-Bold"/>
                          <a:ea typeface="Roca Two Ultra-Bold"/>
                          <a:cs typeface="Roca Two Ultra-Bold"/>
                          <a:sym typeface="Roca Two Ultra-Bold"/>
                        </a:rPr>
                        <a:t>why hire me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6306711" y="6395946"/>
            <a:ext cx="952589" cy="943157"/>
          </a:xfrm>
          <a:custGeom>
            <a:avLst/>
            <a:gdLst/>
            <a:ahLst/>
            <a:cxnLst/>
            <a:rect r="r" b="b" t="t" l="l"/>
            <a:pathLst>
              <a:path h="943157" w="952589">
                <a:moveTo>
                  <a:pt x="0" y="0"/>
                </a:moveTo>
                <a:lnTo>
                  <a:pt x="952589" y="0"/>
                </a:lnTo>
                <a:lnTo>
                  <a:pt x="952589" y="943158"/>
                </a:lnTo>
                <a:lnTo>
                  <a:pt x="0" y="94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5841370" cy="8229600"/>
            <a:chOff x="0" y="0"/>
            <a:chExt cx="450723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059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505960">
                  <a:moveTo>
                    <a:pt x="0" y="561340"/>
                  </a:moveTo>
                  <a:lnTo>
                    <a:pt x="0" y="3961130"/>
                  </a:lnTo>
                  <a:cubicBezTo>
                    <a:pt x="0" y="4272280"/>
                    <a:pt x="252730" y="4523740"/>
                    <a:pt x="562610" y="4522470"/>
                  </a:cubicBezTo>
                  <a:cubicBezTo>
                    <a:pt x="873760" y="4521200"/>
                    <a:pt x="1126490" y="4773930"/>
                    <a:pt x="1125220" y="5085080"/>
                  </a:cubicBezTo>
                  <a:lnTo>
                    <a:pt x="1123950" y="5787390"/>
                  </a:lnTo>
                  <a:cubicBezTo>
                    <a:pt x="1123950" y="6098540"/>
                    <a:pt x="1375410" y="6350000"/>
                    <a:pt x="1685290" y="6350000"/>
                  </a:cubicBezTo>
                  <a:lnTo>
                    <a:pt x="3944620" y="6350000"/>
                  </a:lnTo>
                  <a:cubicBezTo>
                    <a:pt x="4254500" y="6350000"/>
                    <a:pt x="4505960" y="6098540"/>
                    <a:pt x="4505960" y="5788660"/>
                  </a:cubicBezTo>
                  <a:lnTo>
                    <a:pt x="4505960" y="2679700"/>
                  </a:lnTo>
                  <a:cubicBezTo>
                    <a:pt x="4505960" y="2494280"/>
                    <a:pt x="4414520" y="2321560"/>
                    <a:pt x="4262120" y="2217420"/>
                  </a:cubicBezTo>
                  <a:lnTo>
                    <a:pt x="1184910" y="99060"/>
                  </a:lnTo>
                  <a:cubicBezTo>
                    <a:pt x="1090930" y="34290"/>
                    <a:pt x="980440" y="0"/>
                    <a:pt x="866140" y="0"/>
                  </a:cubicBezTo>
                  <a:lnTo>
                    <a:pt x="561340" y="0"/>
                  </a:lnTo>
                  <a:cubicBezTo>
                    <a:pt x="251460" y="0"/>
                    <a:pt x="0" y="251460"/>
                    <a:pt x="0" y="561340"/>
                  </a:cubicBezTo>
                  <a:close/>
                </a:path>
              </a:pathLst>
            </a:custGeom>
            <a:blipFill>
              <a:blip r:embed="rId4"/>
              <a:stretch>
                <a:fillRect l="0" t="-3253" r="0" b="-3253"/>
              </a:stretch>
            </a:blip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701913" y="1528252"/>
          <a:ext cx="9557387" cy="1329026"/>
        </p:xfrm>
        <a:graphic>
          <a:graphicData uri="http://schemas.openxmlformats.org/drawingml/2006/table">
            <a:tbl>
              <a:tblPr/>
              <a:tblGrid>
                <a:gridCol w="9557387"/>
              </a:tblGrid>
              <a:tr h="13290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EAE5DA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I'm not just a designer, I'm a design problem solver. I translate ideas into impactful experiences that engage users and drive results. 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701913" y="3962099"/>
          <a:ext cx="9557387" cy="1329026"/>
        </p:xfrm>
        <a:graphic>
          <a:graphicData uri="http://schemas.openxmlformats.org/drawingml/2006/table">
            <a:tbl>
              <a:tblPr/>
              <a:tblGrid>
                <a:gridCol w="9557387"/>
              </a:tblGrid>
              <a:tr h="13290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EAE5DA"/>
                          </a:solidFill>
                          <a:latin typeface="Decalotype"/>
                          <a:ea typeface="Decalotype"/>
                          <a:cs typeface="Decalotype"/>
                          <a:sym typeface="Decalotype"/>
                        </a:rPr>
                        <a:t>Looking for a fresh perspective and creative spark? I bring a blend of design expertise and youthful energy to your team. 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AE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6020404"/>
          <a:ext cx="6702147" cy="2209800"/>
        </p:xfrm>
        <a:graphic>
          <a:graphicData uri="http://schemas.openxmlformats.org/drawingml/2006/table">
            <a:tbl>
              <a:tblPr/>
              <a:tblGrid>
                <a:gridCol w="6702147"/>
              </a:tblGrid>
              <a:tr h="220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4C7A6D"/>
                          </a:solidFill>
                          <a:latin typeface="Decalotype Bold"/>
                          <a:ea typeface="Decalotype Bold"/>
                          <a:cs typeface="Decalotype Bold"/>
                          <a:sym typeface="Decalotype Bold"/>
                        </a:rPr>
                        <a:t>+123-456-7890</a:t>
                      </a:r>
                      <a:endParaRPr lang="en-US" sz="1100"/>
                    </a:p>
                    <a:p>
                      <a:pPr algn="l">
                        <a:lnSpc>
                          <a:spcPts val="5040"/>
                        </a:lnSpc>
                      </a:pPr>
                      <a:r>
                        <a:rPr lang="en-US" sz="3600" b="true">
                          <a:solidFill>
                            <a:srgbClr val="4C7A6D"/>
                          </a:solidFill>
                          <a:latin typeface="Decalotype Bold"/>
                          <a:ea typeface="Decalotype Bold"/>
                          <a:cs typeface="Decalotype Bold"/>
                          <a:sym typeface="Decalotype Bold"/>
                        </a:rPr>
                        <a:t>hello@reallygreatsite.com</a:t>
                      </a:r>
                    </a:p>
                    <a:p>
                      <a:pPr algn="l">
                        <a:lnSpc>
                          <a:spcPts val="5040"/>
                        </a:lnSpc>
                      </a:pPr>
                      <a:r>
                        <a:rPr lang="en-US" sz="3600" b="true">
                          <a:solidFill>
                            <a:srgbClr val="4C7A6D"/>
                          </a:solidFill>
                          <a:latin typeface="Decalotype Bold"/>
                          <a:ea typeface="Decalotype Bold"/>
                          <a:cs typeface="Decalotype Bold"/>
                          <a:sym typeface="Decalotype Bold"/>
                        </a:rPr>
                        <a:t>www.reallygreatsite.com</a:t>
                      </a:r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9005765" y="1200026"/>
            <a:ext cx="8059632" cy="7886948"/>
            <a:chOff x="0" y="0"/>
            <a:chExt cx="6489033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87204" cy="6350000"/>
            </a:xfrm>
            <a:custGeom>
              <a:avLst/>
              <a:gdLst/>
              <a:ahLst/>
              <a:cxnLst/>
              <a:rect r="r" b="b" t="t" l="l"/>
              <a:pathLst>
                <a:path h="6350000" w="6487204">
                  <a:moveTo>
                    <a:pt x="0" y="561340"/>
                  </a:moveTo>
                  <a:lnTo>
                    <a:pt x="0" y="3961130"/>
                  </a:lnTo>
                  <a:cubicBezTo>
                    <a:pt x="0" y="4272280"/>
                    <a:pt x="363854" y="4523740"/>
                    <a:pt x="809986" y="4522470"/>
                  </a:cubicBezTo>
                  <a:cubicBezTo>
                    <a:pt x="1257947" y="4521200"/>
                    <a:pt x="1621801" y="4773930"/>
                    <a:pt x="1619973" y="5085080"/>
                  </a:cubicBezTo>
                  <a:lnTo>
                    <a:pt x="1618144" y="5787390"/>
                  </a:lnTo>
                  <a:cubicBezTo>
                    <a:pt x="1618144" y="6098540"/>
                    <a:pt x="1980170" y="6350000"/>
                    <a:pt x="2426302" y="6350000"/>
                  </a:cubicBezTo>
                  <a:lnTo>
                    <a:pt x="5679046" y="6350000"/>
                  </a:lnTo>
                  <a:cubicBezTo>
                    <a:pt x="6125179" y="6350000"/>
                    <a:pt x="6487204" y="6098540"/>
                    <a:pt x="6487204" y="5788660"/>
                  </a:cubicBezTo>
                  <a:lnTo>
                    <a:pt x="6487204" y="2679700"/>
                  </a:lnTo>
                  <a:cubicBezTo>
                    <a:pt x="6487204" y="2494280"/>
                    <a:pt x="6355559" y="2321560"/>
                    <a:pt x="6136149" y="2217420"/>
                  </a:cubicBezTo>
                  <a:lnTo>
                    <a:pt x="1705908" y="99060"/>
                  </a:lnTo>
                  <a:cubicBezTo>
                    <a:pt x="1570606" y="34290"/>
                    <a:pt x="1411534" y="0"/>
                    <a:pt x="1246977" y="0"/>
                  </a:cubicBezTo>
                  <a:lnTo>
                    <a:pt x="808158" y="0"/>
                  </a:lnTo>
                  <a:cubicBezTo>
                    <a:pt x="362025" y="0"/>
                    <a:pt x="0" y="251460"/>
                    <a:pt x="0" y="561340"/>
                  </a:cubicBezTo>
                  <a:close/>
                </a:path>
              </a:pathLst>
            </a:custGeom>
            <a:blipFill>
              <a:blip r:embed="rId2"/>
              <a:stretch>
                <a:fillRect l="0" t="-26668" r="0" b="-26668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844400"/>
            <a:ext cx="659567" cy="840569"/>
          </a:xfrm>
          <a:custGeom>
            <a:avLst/>
            <a:gdLst/>
            <a:ahLst/>
            <a:cxnLst/>
            <a:rect r="r" b="b" t="t" l="l"/>
            <a:pathLst>
              <a:path h="840569" w="659567">
                <a:moveTo>
                  <a:pt x="0" y="0"/>
                </a:moveTo>
                <a:lnTo>
                  <a:pt x="659567" y="0"/>
                </a:lnTo>
                <a:lnTo>
                  <a:pt x="659567" y="840570"/>
                </a:lnTo>
                <a:lnTo>
                  <a:pt x="0" y="840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125549"/>
            <a:ext cx="7341046" cy="241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  <a:spcBef>
                <a:spcPct val="0"/>
              </a:spcBef>
            </a:pPr>
            <a:r>
              <a:rPr lang="en-US" sz="5000" spc="-125">
                <a:solidFill>
                  <a:srgbClr val="4C7A6D"/>
                </a:solidFill>
                <a:latin typeface="Roca Two Light"/>
                <a:ea typeface="Roca Two Light"/>
                <a:cs typeface="Roca Two Light"/>
                <a:sym typeface="Roca Two Light"/>
              </a:rPr>
              <a:t>Let's connect and design solutions that leave a lasting </a:t>
            </a:r>
            <a:r>
              <a:rPr lang="en-US" sz="5000" i="true" spc="-125">
                <a:solidFill>
                  <a:srgbClr val="4C7A6D"/>
                </a:solidFill>
                <a:latin typeface="Roca Two Light Italics"/>
                <a:ea typeface="Roca Two Light Italics"/>
                <a:cs typeface="Roca Two Light Italics"/>
                <a:sym typeface="Roca Two Light Italics"/>
              </a:rPr>
              <a:t>impact</a:t>
            </a:r>
            <a:r>
              <a:rPr lang="en-US" sz="5000" spc="-125">
                <a:solidFill>
                  <a:srgbClr val="4C7A6D"/>
                </a:solidFill>
                <a:latin typeface="Roca Two Light"/>
                <a:ea typeface="Roca Two Light"/>
                <a:cs typeface="Roca Two Light"/>
                <a:sym typeface="Roca Two Light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DAHFVEs03O0</dc:identifier>
  <dcterms:modified xsi:type="dcterms:W3CDTF">2011-08-01T06:04:30Z</dcterms:modified>
  <cp:revision>1</cp:revision>
</cp:coreProperties>
</file>